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66" r:id="rId2"/>
    <p:sldId id="267" r:id="rId3"/>
    <p:sldId id="268" r:id="rId4"/>
    <p:sldId id="269" r:id="rId5"/>
    <p:sldId id="270" r:id="rId6"/>
    <p:sldId id="272" r:id="rId7"/>
    <p:sldId id="273" r:id="rId8"/>
    <p:sldId id="274" r:id="rId9"/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7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462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far that was the concept. This is the actual starter project you clone and run for the Ship Program — the ingestion half, hands-on, on the CIS Controls v8 security guidelines. Numbering: the project splits ingestion into sub-tasks 2.1–2.4 (parse/chunk/embed/store), which maps to the conceptual '2.5 Ingestion' stage — just in implementation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notebook walks a real PDF (CIS Controls v8) through these four stages. 2.1 Parse: unstructured hi_res uses OCR + a layout model so it detects tables &amp; images. 2.2 Chunk: by character / token / by-title (structure-aware). 2.3 Embed: same bge-small CPU model. 2.4 Store: Weaviate here instead of Chroma/FAISS — same similarity-search idea. Dashed box = what comes later: retrieve -&gt; rerank -&gt;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uv install: curl -LsSf https://astral.sh/uv/install.sh | sh (Linux/macOS/WSL). System libs (Debian/Ubuntu/WSL): sudo apt-get install -y poppler-utils tesseract-ocr libgl1 — poppler renders PDF pages to images, tesseract OCRs them, libgl1 needed by the layout/vision model. macOS: brew install poppler tesseract. Weaviate via Docker: docker run -p 8080:8080 -p 50051:50051 cr.weaviate.io/semitechnologies/weaviate:1.27.0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uv sync reads the lockfile and builds the exact reproducible environment. Pick the project's .venv as the notebook kernel or imports fail. Warn them: the first run looks like it's hanging but it's downloading models and OCR-parsing the PDF; everything caches after the first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lives under rag_setup/. The teaching is all in the one notebook; main.py is a placeholder for a real entry point later. pyproject.toml + uv.lock are the source of truth — don't hand-edit the venv.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RAG failures are bad chunks or bad retrieval, not a too-small LLM. 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this out / leave it up during Q&amp;A. Everything here has been CPU-verified.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Ollama uses CPU automatically when there's no GPU. Be honest: the answer types out at reading speed, not instantly — fine for an internal tool over private docs. Retrieval &amp; reranking stay fast regardless; the bottleneck is only the LLM writing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part covers three stages of a RAG pipeline. Theme: everything is small enough to run locally on a CPU — no GPU, no API keys, no data leaving the machine (privacy, cost, offline). Note on ordering: numbered 2.5/2.6/2.7 but presented in runtime-flow order: Ingestion (2.5) -&gt; Retrieval (2.7) -&gt; Reranking (2.6).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Offline we prepare the knowledge base once (ingestion). Online, every question goes through retrieval, then reranking, then a small model writes the answer. Retrieval is fast/approximate (find candidates from millions); reranking is slow/precise (re-score a handful). This diagram is the anchor for the whole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Ingestion is everything before a user asks a question — garbage in, garbage out. For us, 'DB ingestion' means the source is a database: read rows, turn into text docs, then Load -&gt; Split -&gt; Embed -&gt; 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split: embeddings squash a chunk into one vector; too big = mush, too small = fragmented. Why small embed model: we're on CPU; bge-small / nomic-embed embed thousands of chunks in minutes. Chroma = easiest (persists, metadata, one line); FAISS = faster at huge scale. Both local &amp;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 demo you ingest once and forget. In production the DB keeps changing. The Indexing API tracks what's already stored via hashes, so a daily sync only embeds new &amp; changed rows. People schedule it as a nightly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Critical: embed the question with the SAME model used during ingestion — different models = different vector spaces = meaningless comparison. Nearest neighbours by cosine similarity = similarity, not understanding — that's why reranking exists. Grab a generous top-k (50, not 3): cheaper to over-fetch and filter than to miss the right chunk.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CPU stay in the 1–4B range; Q4 roughly halves memory with little quality loss — a 4B model fits in a few GB. Ollama: `ollama pull qwen3:4b`, serves an OpenAI-compatible localhost endpoint; LangChain talks to it directly. Key reframe: retrieval quality beats model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Retriever = bi-encoder: embeds query and docs SEPARATELY. Fast (search millions) but can't see how query and a specific doc interact. Cross-encoder: feeds query+chunk through the model TOGETHER -&gt; one relevance score. More accurate but too slow for millions, so only run on the ~50 candidates. Classic two-stage retrieval: retrieve wide &amp; cheap, rerank narrow &amp; expensive.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bge-reranker-v2-m3 is the standard free local reranker, multilingual. Cross-encoders are slow so rerank only the few dozen the retriever handed over — sub-second on CPU. Code: HuggingFaceCrossEncoder -&gt; CrossEncoderReranker(top_n=5) -&gt; ContextualCompressionRetriever (50 in, top 5 out).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full loop: prepare the store once; for every question cast a wide net, sharpen with the reranker, let a small model answer from the best 5 chunks. Nothing needs a GPU or the cloud — a genuinely useful private RAG system on a laptop.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Prepped Q&amp;A answers — keep this slide up while taking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182880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937760" y="18288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Intern Program starter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4C0FC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Tasks 2.1 → 2.4 · the ingestion pipeline, on a real document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438912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ready-to-run RAG environment — LangChain + local open-source models · no API keys · your data never leaves the machine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1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Ingestion in four stages</a:t>
            </a:r>
            <a:endParaRPr lang="en-US" sz="3000" dirty="0"/>
          </a:p>
        </p:txBody>
      </p:sp>
      <p:pic>
        <p:nvPicPr>
          <p:cNvPr id="3" name="Image 0" descr="C:\Users\Public\Documents\Dar_WL\AIDA\aida_backend\presentation\_png\shippro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143000"/>
            <a:ext cx="10881360" cy="219456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611880"/>
          <a:ext cx="11055096" cy="22860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8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 Parse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text, tables &amp; images from the PDF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langchain-unstructured (hi_res)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 Chunk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into retrieval-sized pieces (char / token / by-title)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langchain-text-splitters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 Embed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 chunks into vectors, locally on CPU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BAAI/bge-small-en-v1.5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 Store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vectors in a DB you can search by similarity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langchain-weaviate + Weaviate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RAG Pipeline · Intern Program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1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Prerequisites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417320"/>
            <a:ext cx="11057839" cy="1024128"/>
          </a:xfrm>
          <a:prstGeom prst="roundRect">
            <a:avLst>
              <a:gd name="adj" fmla="val 5357"/>
            </a:avLst>
          </a:prstGeom>
          <a:solidFill>
            <a:srgbClr val="F2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5528" y="1655064"/>
            <a:ext cx="548640" cy="548640"/>
          </a:xfrm>
          <a:prstGeom prst="ellipse">
            <a:avLst/>
          </a:prstGeom>
          <a:solidFill>
            <a:srgbClr val="1971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5528" y="16550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72768" y="1417320"/>
            <a:ext cx="9777679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3.12+  </a:t>
            </a:r>
            <a:r>
              <a:rPr lang="en-US" sz="13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(requires-python in pyproject.toml)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6928" y="2587752"/>
            <a:ext cx="11057839" cy="1024128"/>
          </a:xfrm>
          <a:prstGeom prst="roundRect">
            <a:avLst>
              <a:gd name="adj" fmla="val 5357"/>
            </a:avLst>
          </a:prstGeom>
          <a:solidFill>
            <a:srgbClr val="F2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95528" y="2825496"/>
            <a:ext cx="548640" cy="548640"/>
          </a:xfrm>
          <a:prstGeom prst="ellipse">
            <a:avLst/>
          </a:prstGeom>
          <a:solidFill>
            <a:srgbClr val="704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95528" y="28254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72768" y="2587752"/>
            <a:ext cx="9777679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 </a:t>
            </a:r>
            <a:r>
              <a:rPr lang="en-US" sz="13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Package/env manager — reads pyproject.toml + uv.lock, builds an isolated .venv for you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66928" y="3758184"/>
            <a:ext cx="11057839" cy="1024128"/>
          </a:xfrm>
          <a:prstGeom prst="roundRect">
            <a:avLst>
              <a:gd name="adj" fmla="val 5357"/>
            </a:avLst>
          </a:prstGeom>
          <a:solidFill>
            <a:srgbClr val="F2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5528" y="3995928"/>
            <a:ext cx="548640" cy="548640"/>
          </a:xfrm>
          <a:prstGeom prst="ellipse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5528" y="39959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72768" y="3758184"/>
            <a:ext cx="9777679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packages  </a:t>
            </a:r>
            <a:r>
              <a:rPr lang="en-US" sz="13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hi-res PDF parsing:  poppler-utils · tesseract-ocr · libgl1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66928" y="4928616"/>
            <a:ext cx="11057839" cy="1024128"/>
          </a:xfrm>
          <a:prstGeom prst="roundRect">
            <a:avLst>
              <a:gd name="adj" fmla="val 5357"/>
            </a:avLst>
          </a:prstGeom>
          <a:solidFill>
            <a:srgbClr val="F2F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95528" y="5166360"/>
            <a:ext cx="548640" cy="548640"/>
          </a:xfrm>
          <a:prstGeom prst="ellipse">
            <a:avLst/>
          </a:prstGeom>
          <a:solidFill>
            <a:srgbClr val="2F9E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95528" y="5166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72768" y="4928616"/>
            <a:ext cx="9777679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 </a:t>
            </a:r>
            <a:r>
              <a:rPr lang="en-US" sz="13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Weaviate (recommended over the embedded fallback)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RAG Pipeline · Intern Program</a:t>
            </a:r>
          </a:p>
        </p:txBody>
      </p:sp>
      <p:sp>
        <p:nvSpPr>
          <p:cNvPr id="20" name="Text 18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1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 &amp; run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rag_setup/ directory: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57839" cy="1828800"/>
          </a:xfrm>
          <a:prstGeom prst="roundRect">
            <a:avLst>
              <a:gd name="adj" fmla="val 2500"/>
            </a:avLst>
          </a:prstGeom>
          <a:solidFill>
            <a:srgbClr val="1E22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5528" y="1755648"/>
            <a:ext cx="10600639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7FB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Install Python deps into an isolated .venv
</a:t>
            </a:r>
            <a:r>
              <a:rPr lang="en-US" sz="1500" b="1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sync
</a:t>
            </a: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500" dirty="0">
                <a:solidFill>
                  <a:srgbClr val="7FB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Launch Jupyter
</a:t>
            </a:r>
            <a:r>
              <a:rPr lang="en-US" sz="1500" b="1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jupyter lab        # or: uv run jupyter notebook
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381304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971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9536" y="3749040"/>
            <a:ext cx="10765231" cy="392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</a:t>
            </a:r>
            <a:r>
              <a:rPr lang="en-US" sz="1600" dirty="0">
                <a:solidFill>
                  <a:srgbClr val="197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notebooks/01_RAG_setup.ipynb</a:t>
            </a:r>
            <a:r>
              <a:rPr lang="en-US" sz="16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select the project's .venv kernel, run top to bottom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" y="4572000"/>
            <a:ext cx="11057839" cy="1005840"/>
          </a:xfrm>
          <a:prstGeom prst="roundRect">
            <a:avLst>
              <a:gd name="adj" fmla="val 5455"/>
            </a:avLst>
          </a:prstGeom>
          <a:solidFill>
            <a:srgbClr val="FFF4E6"/>
          </a:solidFill>
          <a:ln w="1270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66928" y="4572000"/>
            <a:ext cx="82296" cy="1005840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4572000"/>
            <a:ext cx="10600639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run is slow (one-time): downloads the embedding model (~130 MB) + layout model, and hi_res parsing takes a few minutes on CPU. Cached afterward.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RAG Pipeline · Intern Program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1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layout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828800"/>
            <a:ext cx="11057839" cy="2071116"/>
          </a:xfrm>
          <a:prstGeom prst="roundRect">
            <a:avLst>
              <a:gd name="adj" fmla="val 2208"/>
            </a:avLst>
          </a:prstGeom>
          <a:solidFill>
            <a:srgbClr val="1E22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5528" y="1938528"/>
            <a:ext cx="10600639" cy="1851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rag_setup/
├── data/                     # CIS Controls v8 PDF (sample document)
├── notebooks/
│   └── 01_RAG_setup.ipynb    # ingestion walkthrough (Tasks 2.1 → 2.4)
├── main.py                   # placeholder entry point
├── pyproject.toml            # dependencies + Python version
└── uv.lock                   # pinned dependency versions
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4357116"/>
            <a:ext cx="11057839" cy="731520"/>
          </a:xfrm>
          <a:prstGeom prst="roundRect">
            <a:avLst>
              <a:gd name="adj" fmla="val 7500"/>
            </a:avLst>
          </a:prstGeom>
          <a:solidFill>
            <a:srgbClr val="E7F1FB"/>
          </a:solidFill>
          <a:ln w="12700">
            <a:solidFill>
              <a:srgbClr val="1971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4357116"/>
            <a:ext cx="82296" cy="731520"/>
          </a:xfrm>
          <a:prstGeom prst="rect">
            <a:avLst/>
          </a:prstGeom>
          <a:solidFill>
            <a:srgbClr val="1971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4357116"/>
            <a:ext cx="106006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pyproject.toml + uv.lock are the source of truth for the environment — don't hand-edit the .venv.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RAG Pipeline · Intern Program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1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213410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971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9536" y="2070100"/>
            <a:ext cx="10765231" cy="496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= give a small model the </a:t>
            </a:r>
            <a:r>
              <a:rPr lang="en-US" sz="19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context</a:t>
            </a:r>
            <a:r>
              <a:rPr lang="en-US" sz="19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a bigger model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66928" y="263067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971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9536" y="2566670"/>
            <a:ext cx="10765231" cy="496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quality sets the ceiling — chunk well, embed with a </a:t>
            </a:r>
            <a:r>
              <a:rPr lang="en-US" sz="1900" b="1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r>
              <a:rPr lang="en-US" sz="19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66928" y="312724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971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9536" y="3063240"/>
            <a:ext cx="10765231" cy="496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</a:t>
            </a:r>
            <a:r>
              <a:rPr lang="en-US" sz="19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+ cheap</a:t>
            </a:r>
            <a:r>
              <a:rPr lang="en-US" sz="19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rerank </a:t>
            </a:r>
            <a:r>
              <a:rPr lang="en-US" sz="1900" b="1" dirty="0">
                <a:solidFill>
                  <a:srgbClr val="704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+ precise</a:t>
            </a:r>
            <a:r>
              <a:rPr lang="en-US" sz="19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(two-stage)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66928" y="362381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971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9536" y="3559810"/>
            <a:ext cx="10765231" cy="496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+ local + CPU is a real, practical option — privacy, cost, offline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66928" y="4513580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FFF4E6"/>
          </a:solidFill>
          <a:ln w="1270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66928" y="4513580"/>
            <a:ext cx="82296" cy="914400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4513580"/>
            <a:ext cx="1060063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remember one thing:  retrieval quality beats model size.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RAG Pipeline · Intern Program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1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small / local stack — all CPU-verified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06269"/>
              </p:ext>
            </p:extLst>
          </p:nvPr>
        </p:nvGraphicFramePr>
        <p:xfrm>
          <a:off x="566928" y="1417320"/>
          <a:ext cx="11055096" cy="396849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8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/ tool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footprint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— embed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→ vector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bge-small-en-v1.5 / nomic-embed-text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~130–275 MB, fast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— store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vectors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 (easy) / FAISS (fast) / </a:t>
                      </a:r>
                      <a:r>
                        <a:rPr lang="en-US" sz="1300" dirty="0" err="1">
                          <a:solidFill>
                            <a:srgbClr val="1E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Weaviate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local, no GPU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— sync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 re-embedding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Indexing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 — retrieve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top-k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as_retriever(k=50)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sub-second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 — generate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the answer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qwen3:4b / llama3.2:3b via Ollama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GB, ~3–6 tok/s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 — rerank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precise re-score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bge-reranker-v2-m3 (cross-encoder)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1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568M, ~130 ms/16 pairs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66928" y="603504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runs CPU-only — no GPU, no cloud.  Verified June 2026.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RAG Pipeline · Intern Program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1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CPU reality check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66420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971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9536" y="1600200"/>
            <a:ext cx="10765231" cy="4983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&amp; reranking on CPU: </a:t>
            </a:r>
            <a:r>
              <a:rPr lang="en-US" sz="18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r>
              <a:rPr lang="en-US" sz="18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(sub-second)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66928" y="216255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971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9536" y="2098548"/>
            <a:ext cx="10765231" cy="4983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on CPU: </a:t>
            </a:r>
            <a:r>
              <a:rPr lang="en-US" sz="18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slow step</a:t>
            </a:r>
            <a:r>
              <a:rPr lang="en-US" sz="18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~3–6 tokens/sec on a modern desktop CPU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6928" y="26609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971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9536" y="2596896"/>
            <a:ext cx="10765231" cy="4983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for: single-query lookups, batch jobs, privacy-sensitive data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66928" y="315925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971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9536" y="3095244"/>
            <a:ext cx="10765231" cy="4983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great for: snappy real-time chat (smaller model, or a GPU later)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66928" y="4297680"/>
            <a:ext cx="5391760" cy="13716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 w="19050">
            <a:solidFill>
              <a:srgbClr val="2F9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1248" y="4480560"/>
            <a:ext cx="484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+ rerank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" y="4846320"/>
            <a:ext cx="484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9E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sub-second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6233008" y="4297680"/>
            <a:ext cx="5391760" cy="13716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 w="19050">
            <a:solidFill>
              <a:srgbClr val="E859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07328" y="4480560"/>
            <a:ext cx="484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07328" y="4846320"/>
            <a:ext cx="484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~3–6 tok/s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RAG Pipeline · Intern Program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9456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a Local RAG Pipeline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 ·  Retrieval  ·  Reranking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4C0FC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small models · no GPU · no cloud · nothing leaves the machine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51206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Presentation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1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RAG — and where do my parts fit?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29844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971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9536" y="1234440"/>
            <a:ext cx="10765231" cy="392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don't know your private/internal data and can </a:t>
            </a:r>
            <a:r>
              <a:rPr lang="en-US" sz="16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69062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971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9536" y="1626616"/>
            <a:ext cx="10765231" cy="392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= </a:t>
            </a:r>
            <a:r>
              <a:rPr lang="en-US" sz="16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r>
              <a:rPr lang="en-US" sz="16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relevant text first, then answer </a:t>
            </a:r>
            <a:r>
              <a:rPr lang="en-US" sz="1600" i="1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</a:t>
            </a:r>
            <a:r>
              <a:rPr lang="en-US" sz="16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208280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971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9536" y="2018792"/>
            <a:ext cx="10765231" cy="392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phases: </a:t>
            </a:r>
            <a:r>
              <a:rPr lang="en-US" sz="16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r>
              <a:rPr lang="en-US" sz="16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(build the knowledge base)  ·  </a:t>
            </a:r>
            <a:r>
              <a:rPr lang="en-US" sz="1600" b="1" dirty="0">
                <a:solidFill>
                  <a:srgbClr val="704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r>
              <a:rPr lang="en-US" sz="16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(answer a query)</a:t>
            </a:r>
            <a:endParaRPr lang="en-US" sz="1600" dirty="0"/>
          </a:p>
        </p:txBody>
      </p:sp>
      <p:pic>
        <p:nvPicPr>
          <p:cNvPr id="9" name="Image 0" descr="C:\Users\Public\Documents\Dar_WL\AIDA\aida_backend\presentation\_png\bigpictur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00200" y="2514600"/>
            <a:ext cx="8961120" cy="3611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RAG Pipeline · Intern Program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841248" cy="457200"/>
          </a:xfrm>
          <a:prstGeom prst="roundRect">
            <a:avLst>
              <a:gd name="adj" fmla="val 16000"/>
            </a:avLst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457200"/>
            <a:ext cx="841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2.5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591056" y="384048"/>
            <a:ext cx="1003371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1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Ingestion — the goal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52704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9536" y="1463040"/>
            <a:ext cx="5559552" cy="656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raw documents (or DB rows) into </a:t>
            </a:r>
            <a:r>
              <a:rPr lang="en-US" sz="16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vectors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21833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9536" y="2119376"/>
            <a:ext cx="5559552" cy="392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steps: </a:t>
            </a:r>
            <a:r>
              <a:rPr lang="en-US" sz="1600" b="1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→ Split → Embed → Store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" y="257556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9536" y="2511552"/>
            <a:ext cx="5559552" cy="392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once, then re-run only when the source changes</a:t>
            </a:r>
            <a:endParaRPr lang="en-US" sz="1600" dirty="0"/>
          </a:p>
        </p:txBody>
      </p:sp>
      <p:pic>
        <p:nvPicPr>
          <p:cNvPr id="11" name="Image 0" descr="C:\Users\Public\Documents\Dar_WL\AIDA\aida_backend\presentation\_png\inges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0" y="1280160"/>
            <a:ext cx="4754880" cy="47091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RAG Pipeline · Intern Program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841248" cy="457200"/>
          </a:xfrm>
          <a:prstGeom prst="roundRect">
            <a:avLst>
              <a:gd name="adj" fmla="val 16000"/>
            </a:avLst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457200"/>
            <a:ext cx="841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2.5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591056" y="384048"/>
            <a:ext cx="1003371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1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Ingestion — the steps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9536" y="1508760"/>
            <a:ext cx="5650992" cy="656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r>
              <a:rPr lang="en-US" sz="16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read from DB / PDFs / web (LangChain document loaders)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22291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9536" y="2165096"/>
            <a:ext cx="5650992" cy="656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r>
              <a:rPr lang="en-US" sz="16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chunk so each vector is ~one idea (</a:t>
            </a:r>
            <a:r>
              <a:rPr lang="en-US" sz="1600" dirty="0">
                <a:solidFill>
                  <a:srgbClr val="1E21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RecursiveCharacterTextSplitter</a:t>
            </a:r>
            <a:r>
              <a:rPr lang="en-US" sz="16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" y="288544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9536" y="2821432"/>
            <a:ext cx="5650992" cy="656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r>
              <a:rPr lang="en-US" sz="16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convert each chunk to a vector with a small model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354177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59536" y="3477768"/>
            <a:ext cx="5650992" cy="392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r>
              <a:rPr lang="en-US" sz="16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save vectors locally in Chroma or FAISS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766560" y="1508760"/>
            <a:ext cx="4846320" cy="2054352"/>
          </a:xfrm>
          <a:prstGeom prst="roundRect">
            <a:avLst>
              <a:gd name="adj" fmla="val 2226"/>
            </a:avLst>
          </a:prstGeom>
          <a:solidFill>
            <a:srgbClr val="1E22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95160" y="1618488"/>
            <a:ext cx="4389120" cy="1834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   = DirectoryLoader("./data").load()
chunks = RecursiveCharacterTextSplitter(
           chunk_size=500, chunk_overlap=50
         ).split_documents(docs)
emb    = HuggingFaceEmbeddings(
           "BAAI/bge-small-en-v1.5")
store  = Chroma.from_documents(
           chunks, emb, "./db")
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5257800"/>
            <a:ext cx="11057839" cy="731520"/>
          </a:xfrm>
          <a:prstGeom prst="roundRect">
            <a:avLst>
              <a:gd name="adj" fmla="val 7500"/>
            </a:avLst>
          </a:prstGeom>
          <a:solidFill>
            <a:srgbClr val="E7F1FB"/>
          </a:solidFill>
          <a:ln w="12700">
            <a:solidFill>
              <a:srgbClr val="1971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66928" y="5257800"/>
            <a:ext cx="82296" cy="731520"/>
          </a:xfrm>
          <a:prstGeom prst="rect">
            <a:avLst/>
          </a:prstGeom>
          <a:solidFill>
            <a:srgbClr val="1971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5257800"/>
            <a:ext cx="106006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~200–500 tokens per chunk with ~50 overlap is a good start — overlap stops a sentence being cut in half across chunks.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RAG Pipeline · Intern Program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841248" cy="457200"/>
          </a:xfrm>
          <a:prstGeom prst="roundRect">
            <a:avLst>
              <a:gd name="adj" fmla="val 16000"/>
            </a:avLst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457200"/>
            <a:ext cx="841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2.5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591056" y="384048"/>
            <a:ext cx="1003371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1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Ingestion — keeping it in sync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220599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9536" y="2141982"/>
            <a:ext cx="10765231" cy="4617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 changes → vectors go </a:t>
            </a:r>
            <a:r>
              <a:rPr lang="en-US" sz="18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6928" y="266776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9536" y="2603754"/>
            <a:ext cx="10765231" cy="4617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Re-embedding </a:t>
            </a:r>
            <a:r>
              <a:rPr lang="en-US" sz="1800" i="1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</a:t>
            </a:r>
            <a:r>
              <a:rPr lang="en-US" sz="18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time is wasteful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66928" y="312953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9536" y="3065526"/>
            <a:ext cx="10765231" cy="4617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</a:t>
            </a:r>
            <a:r>
              <a:rPr lang="en-US" sz="18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API</a:t>
            </a:r>
            <a:r>
              <a:rPr lang="en-US" sz="18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skips unchanged docs, updates changed, removes deleted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286000" y="3984498"/>
            <a:ext cx="7616952" cy="1371600"/>
          </a:xfrm>
          <a:prstGeom prst="roundRect">
            <a:avLst>
              <a:gd name="adj" fmla="val 5333"/>
            </a:avLst>
          </a:prstGeom>
          <a:solidFill>
            <a:srgbClr val="142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86000" y="3984498"/>
            <a:ext cx="7616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74C0FC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“Ingest once, sync forever.”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RAG Pipeline · Intern Program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841248" cy="457200"/>
          </a:xfrm>
          <a:prstGeom prst="roundRect">
            <a:avLst>
              <a:gd name="adj" fmla="val 16000"/>
            </a:avLst>
          </a:prstGeom>
          <a:solidFill>
            <a:srgbClr val="1971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457200"/>
            <a:ext cx="841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2.7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591056" y="384048"/>
            <a:ext cx="1003371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1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Retrieval — the goal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52704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971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9536" y="1463040"/>
            <a:ext cx="5376672" cy="656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query time: find the chunks most likely to answer the question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21833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971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9536" y="2119376"/>
            <a:ext cx="5376672" cy="656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question → compare to stored vectors → return </a:t>
            </a:r>
            <a:r>
              <a:rPr lang="en-US" sz="16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" y="283972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971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9536" y="2775712"/>
            <a:ext cx="5376672" cy="392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approximate</a:t>
            </a:r>
            <a:r>
              <a:rPr lang="en-US" sz="16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built for scale, not perfection</a:t>
            </a:r>
            <a:endParaRPr lang="en-US" sz="1600" dirty="0"/>
          </a:p>
        </p:txBody>
      </p:sp>
      <p:pic>
        <p:nvPicPr>
          <p:cNvPr id="11" name="Image 0" descr="C:\Users\Public\Documents\Dar_WL\AIDA\aida_backend\presentation\_png\retriev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92240" y="1371600"/>
            <a:ext cx="5120640" cy="4754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RAG Pipeline · Intern Program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841248" cy="457200"/>
          </a:xfrm>
          <a:prstGeom prst="roundRect">
            <a:avLst>
              <a:gd name="adj" fmla="val 16000"/>
            </a:avLst>
          </a:prstGeom>
          <a:solidFill>
            <a:srgbClr val="1971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457200"/>
            <a:ext cx="841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2.7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591056" y="384048"/>
            <a:ext cx="1003371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1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small local model that writes the answer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238887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F9E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9536" y="2324862"/>
            <a:ext cx="10765231" cy="4617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chunks + question → prompt → </a:t>
            </a:r>
            <a:r>
              <a:rPr lang="en-US" sz="18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local LLM</a:t>
            </a:r>
            <a:r>
              <a:rPr lang="en-US" sz="18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answer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6928" y="285064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F9E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9536" y="2786634"/>
            <a:ext cx="10765231" cy="4617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CPU-friendly: </a:t>
            </a:r>
            <a:r>
              <a:rPr lang="en-US" sz="1800" b="1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 (0.6–4B), Llama 3.2 3B, Gemma 3, Phi-4-mini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66928" y="331241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F9E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9536" y="3248406"/>
            <a:ext cx="10765231" cy="4617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via </a:t>
            </a:r>
            <a:r>
              <a:rPr lang="en-US" sz="18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r>
              <a:rPr lang="en-US" sz="18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r>
              <a:rPr lang="en-US" sz="18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</a:t>
            </a:r>
            <a:r>
              <a:rPr lang="en-US" sz="18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quantized (Q4) to fit in RAM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66928" y="4167378"/>
            <a:ext cx="11057839" cy="1005840"/>
          </a:xfrm>
          <a:prstGeom prst="roundRect">
            <a:avLst>
              <a:gd name="adj" fmla="val 5455"/>
            </a:avLst>
          </a:prstGeom>
          <a:solidFill>
            <a:srgbClr val="EBFBEE"/>
          </a:solidFill>
          <a:ln w="12700">
            <a:solidFill>
              <a:srgbClr val="2F9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66928" y="4167378"/>
            <a:ext cx="82296" cy="1005840"/>
          </a:xfrm>
          <a:prstGeom prst="rect">
            <a:avLst/>
          </a:prstGeom>
          <a:solidFill>
            <a:srgbClr val="2F9E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4167378"/>
            <a:ext cx="10600639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 matters MORE than model size — the right 5 chunks beat a huge model with the wrong ones.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RAG Pipeline · Intern Program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841248" cy="457200"/>
          </a:xfrm>
          <a:prstGeom prst="roundRect">
            <a:avLst>
              <a:gd name="adj" fmla="val 16000"/>
            </a:avLst>
          </a:prstGeom>
          <a:solidFill>
            <a:srgbClr val="704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457200"/>
            <a:ext cx="841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2.6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591056" y="384048"/>
            <a:ext cx="1003371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1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Reranking — the problem it solves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38988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704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9536" y="1325880"/>
            <a:ext cx="10765231" cy="408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similarity </a:t>
            </a:r>
            <a:r>
              <a:rPr lang="en-US" sz="1700" b="1" dirty="0">
                <a:solidFill>
                  <a:srgbClr val="704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r>
              <a:rPr lang="en-US" sz="17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true relevance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66928" y="179857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704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9536" y="1734566"/>
            <a:ext cx="10765231" cy="408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retriever's #1 result is often </a:t>
            </a:r>
            <a:r>
              <a:rPr lang="en-US" sz="1700" i="1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7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best answer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66928" y="220726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704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9536" y="2143252"/>
            <a:ext cx="10765231" cy="408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700" b="1" dirty="0">
                <a:solidFill>
                  <a:srgbClr val="704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</a:t>
            </a:r>
            <a:r>
              <a:rPr lang="en-US" sz="17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reads query + chunk </a:t>
            </a:r>
            <a:r>
              <a:rPr lang="en-US" sz="1700" b="1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</a:t>
            </a:r>
            <a:r>
              <a:rPr lang="en-US" sz="17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scores real relevance</a:t>
            </a:r>
            <a:endParaRPr lang="en-US" sz="1700" dirty="0"/>
          </a:p>
        </p:txBody>
      </p:sp>
      <p:pic>
        <p:nvPicPr>
          <p:cNvPr id="11" name="Image 0" descr="C:\Users\Public\Documents\Dar_WL\AIDA\aida_backend\presentation\_png\twost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3246120"/>
            <a:ext cx="10698480" cy="2834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RAG Pipeline · Intern Program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841248" cy="457200"/>
          </a:xfrm>
          <a:prstGeom prst="roundRect">
            <a:avLst>
              <a:gd name="adj" fmla="val 16000"/>
            </a:avLst>
          </a:prstGeom>
          <a:solidFill>
            <a:srgbClr val="704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457200"/>
            <a:ext cx="841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2.6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591056" y="384048"/>
            <a:ext cx="10033711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1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Reranking — our model &amp; CPU reality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52704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704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9536" y="1463040"/>
            <a:ext cx="6382512" cy="656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r>
              <a:rPr lang="en-US" sz="1600" b="1" dirty="0">
                <a:solidFill>
                  <a:srgbClr val="704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BAAI/bge-reranker-v2-m3</a:t>
            </a:r>
            <a:r>
              <a:rPr lang="en-US" sz="16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568M params, multilingual, open source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21833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704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9536" y="2119376"/>
            <a:ext cx="6382512" cy="392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</a:t>
            </a:r>
            <a:r>
              <a:rPr lang="en-US" sz="16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no GPU</a:t>
            </a:r>
            <a:r>
              <a:rPr lang="en-US" sz="16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(~130 ms per 16-pair batch)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" y="257556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704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9536" y="2511552"/>
            <a:ext cx="6382512" cy="392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range: rerank </a:t>
            </a:r>
            <a:r>
              <a:rPr lang="en-US" sz="1600" b="1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10–30</a:t>
            </a:r>
            <a:r>
              <a:rPr lang="en-US" sz="16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candidates down to the best </a:t>
            </a:r>
            <a:r>
              <a:rPr lang="en-US" sz="1600" b="1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589520" y="1417320"/>
            <a:ext cx="4023360" cy="1188720"/>
          </a:xfrm>
          <a:prstGeom prst="roundRect">
            <a:avLst>
              <a:gd name="adj" fmla="val 4615"/>
            </a:avLst>
          </a:prstGeom>
          <a:solidFill>
            <a:srgbClr val="F2F4F7"/>
          </a:solidFill>
          <a:ln w="1270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0" y="152704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704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568M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7772400" y="21671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2834640"/>
            <a:ext cx="4023360" cy="1188720"/>
          </a:xfrm>
          <a:prstGeom prst="roundRect">
            <a:avLst>
              <a:gd name="adj" fmla="val 4615"/>
            </a:avLst>
          </a:prstGeom>
          <a:solidFill>
            <a:srgbClr val="F2F4F7"/>
          </a:solidFill>
          <a:ln w="1270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0" y="294436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704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~130ms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772400" y="35844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16 pairs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89520" y="4251960"/>
            <a:ext cx="4023360" cy="1188720"/>
          </a:xfrm>
          <a:prstGeom prst="roundRect">
            <a:avLst>
              <a:gd name="adj" fmla="val 4615"/>
            </a:avLst>
          </a:prstGeom>
          <a:solidFill>
            <a:srgbClr val="F2F4F7"/>
          </a:solidFill>
          <a:ln w="1270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0" y="436168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704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CPU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772400" y="5001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074920"/>
            <a:ext cx="6675120" cy="960120"/>
          </a:xfrm>
          <a:prstGeom prst="roundRect">
            <a:avLst>
              <a:gd name="adj" fmla="val 5714"/>
            </a:avLst>
          </a:prstGeom>
          <a:solidFill>
            <a:srgbClr val="F3F0FF"/>
          </a:solidFill>
          <a:ln w="12700">
            <a:solidFill>
              <a:srgbClr val="704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66928" y="5074920"/>
            <a:ext cx="82296" cy="960120"/>
          </a:xfrm>
          <a:prstGeom prst="rect">
            <a:avLst/>
          </a:prstGeom>
          <a:solidFill>
            <a:srgbClr val="704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5074920"/>
            <a:ext cx="6217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Tradeoff: reranking adds ~100–500 ms — payoff is cleaner context (fewer hallucinations) and you can send fewer chunks (cheaper, faster generation).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RAG Pipeline · Intern Program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1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Putting it all together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29844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971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9536" y="1234440"/>
            <a:ext cx="10765231" cy="392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Offline: </a:t>
            </a:r>
            <a:r>
              <a:rPr lang="en-US" sz="16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r>
              <a:rPr lang="en-US" sz="16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(load → split → embed → store)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69062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971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9536" y="1626616"/>
            <a:ext cx="10765231" cy="392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Online: </a:t>
            </a:r>
            <a:r>
              <a:rPr lang="en-US" sz="16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r>
              <a:rPr lang="en-US" sz="16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50 → </a:t>
            </a:r>
            <a:r>
              <a:rPr lang="en-US" sz="1600" b="1" dirty="0">
                <a:solidFill>
                  <a:srgbClr val="704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</a:t>
            </a:r>
            <a:r>
              <a:rPr lang="en-US" sz="16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5 → </a:t>
            </a:r>
            <a:r>
              <a:rPr lang="en-US" sz="16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208280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971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9536" y="2018792"/>
            <a:ext cx="10765231" cy="392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1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small, local, CPU-only, free</a:t>
            </a:r>
            <a:endParaRPr lang="en-US" sz="1600" dirty="0"/>
          </a:p>
        </p:txBody>
      </p:sp>
      <p:pic>
        <p:nvPicPr>
          <p:cNvPr id="9" name="Image 0" descr="C:\Users\Public\Documents\Dar_WL\AIDA\aida_backend\presentation\_png\fullpipelin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37360" y="2514600"/>
            <a:ext cx="8686800" cy="3611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RAG Pipeline · Intern Program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97280" y="1737360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4C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 bigger LLM?  </a:t>
            </a:r>
            <a:r>
              <a:rPr lang="en-US" sz="1500" dirty="0">
                <a:solidFill>
                  <a:srgbClr val="E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context → wrong answer, and it won't fit on CPU. RAG fixes context cheaply.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2651760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4C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chunk size?  </a:t>
            </a:r>
            <a:r>
              <a:rPr lang="en-US" sz="1500" dirty="0">
                <a:solidFill>
                  <a:srgbClr val="E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~300–500 tokens, ~50 overlap, then test on real questions.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3566160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4C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need a reranker?  </a:t>
            </a:r>
            <a:r>
              <a:rPr lang="en-US" sz="1500" dirty="0">
                <a:solidFill>
                  <a:srgbClr val="E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add it when plain retrieval returns near-misses. Test with/without.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4480560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4C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embedding model for ingest &amp; query?  </a:t>
            </a:r>
            <a:r>
              <a:rPr lang="en-US" sz="1500" dirty="0">
                <a:solidFill>
                  <a:srgbClr val="E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vector space, or distances are meaningless.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5394960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4C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Embedder vs reranker?  </a:t>
            </a:r>
            <a:r>
              <a:rPr lang="en-US" sz="1500" dirty="0">
                <a:solidFill>
                  <a:srgbClr val="E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Bi-encoder: one vector per text, separate, fast. Cross-encoder: query+doc together, accurate, slow.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2437</Words>
  <Application>Microsoft Office PowerPoint</Application>
  <PresentationFormat>Widescreen</PresentationFormat>
  <Paragraphs>217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Consolas</vt:lpstr>
      <vt:lpstr>Segoe Print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 Local RAG Pipeline</dc:title>
  <dc:subject>PptxGenJS Presentation</dc:subject>
  <dc:creator>Internal Ship Program</dc:creator>
  <cp:lastModifiedBy>Abdallah Bakr</cp:lastModifiedBy>
  <cp:revision>13</cp:revision>
  <dcterms:created xsi:type="dcterms:W3CDTF">2026-06-01T12:41:19Z</dcterms:created>
  <dcterms:modified xsi:type="dcterms:W3CDTF">2026-06-01T13:15:52Z</dcterms:modified>
</cp:coreProperties>
</file>